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6D8B09-4666-45B8-8A27-30B4627B6202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1DEE4-44DA-42FF-9159-DA68E4B670D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2164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AI Update — Recap Fev→Jul 2026 · Capstone. A demanda está se fortalecendo na ponta? Nove sinais, na ordem; oito ficaram mais fortes entre fevereiro e julho — o nono é a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2219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Os nove sinais em uma página
FONTES / NOTAS: Cada linha detalhada nos slides seguintes, com fonte e data em cada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875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1 · Lab ARR — a curva de receita que o capex persegue
FONTES / NOTAS: Marcas de run-rate como registradas na wiki: FundaAI (06-24) · Barclays (06-01) · SemiAnalysis (07-08) · Yipit (07-10) · The Information (03-04) · CNBC (07-30). Contraponto honesto: 1ª leitura contrária no Anthropic em 07-24 (TickerTrends, não verificada); o "julho &amp;gt; todo o 2T" da OpenAI ainda não tem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2176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2 · Tokens — a foto inteira do OpenRouter
FONTES / NOTAS: Chart "Tokens processed per week" do openrouter.ai/rankings, capturado ao vivo em 03-ago-2026; barra hachurada = semana em curso (contabilizado + forecast do site). Atribuição por lab = top-10 modelos DA SEMANA (como no site) — o resto cai em "Outros"; por isso a Anthropic "some" das barras de julho: Claude saiu do top-10 de VOLUME com a inundação de open-weights, mas segue ~46% da RECEITA da plataforma (premium models carregam a economia; volume ≠ economics). Marketplace ≠ indústria — use a inclinação, não o 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88968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2b · Os outros medidores apontam igual
FONTES / NOTAS: Fontes: calls do Alphabet (Pichai/Ashkenazi) e Microsoft (Nadella/Hood); wiki OpenRouter pipeline. C.C. Wei (TSMC 1T26): "the shift to agentic AI in command-and-action mode is leading to another step-up in the amount of tokens being consumed."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8010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2c · A queda do custo do token — o preço da mesma capacidade colapsa
FONTES / NOTAS: Fontes por datapoint no gráfico (hover). Curva de capacidade: Exponential View "State of the AI Economy 2026", 25-jun-26 (análise EV + Epoch AI) — valores lidos de gráfico, tratar como ±. Preço realizado e margens: modelo Tokenomics da SemiAnalysis, 08-jul-26. Custo de servir: SemiAnalysis InferenceX, 09-jun-26. Tokens por tarefa: Exponential View p.42 (OpenRouter + Bai et al. 2026). A anotação do próprio gráfico da EV: "Labs earn a time-limited premium on the current frontier" — o preço do frontier NÃO cai; o que cai é o preço de ONTEM.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09901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2d · A conta — por que a receita sobe com o preço caindo
FONTES / NOTAS: Conta: ambas as pernas vêm da MESMA nota (SemiAnalysis "Anthropic 3Q26 Profit Over $1B", 08-jul-26) — internamente consistente, e cruzada com quatro medidores de volume independentes. Tokens por tarefa: Exponential View p.42 (OpenRouter + Bai et al. 2026). Custo de servir: InferenceX 09-jun-26 (leitura de gráfico). O CONTRAPONTO, mantido honesto: Sonnet 5 SOBE +50% em 01-set (de $2/$10 para $3/$15) e o Kimi K3 subiu ~3x vs o próprio K2.6 ($0.95/$4 → $3/$15); a Citi (10-jul) vê "average output-token prices RISING" com aluguel de GPU em alta; a Redburn mede que, ajustado por cache (~98% dos tokens em uso agentino real), o open-weight é só ~2x mais barato — não 76x; e o HBM ~dobra de custo em 2027 (Fubon 28-jul), empurrando o custo por token para CIMA. A conta do cliente sobe mesmo com o preço unitário caindo: $100 → $1.500 por desenvolvedor em 6-7 meses (UBS 26-jul).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11475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3 · Cloud — os três acelerando juntos
FONTES / NOTAS: MSFT/GOOG/AMZN earnings transcripts, CQ2’24–CQ2’26 (MSFT fiscal quarters mapped to calendar). Azure = as-reported (cc variants in table); guide point = ~45% cc for CQ3’26, guided 2026-07-29. 2T26 do GCP inclui a primeira receita de venda de sistemas TPU — "accelerated meaningfully even after excluding TPU sales" (CFO); a receita do 1T26 é ex-TPU (a mudança de base do 1T foi só no backlog).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56583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3b · O quadro completo das clouds — crescimento, Δ$ e net new ARR
FONTES / NOTAS: Fonte: painel "Resultado" do dashboard Oficiais (rcloud.html) — modelo house TAM_Cloud.xlsb aba 'Mercado', último trimestre reportado 2T26, série própria até 4T26E (não plotada aqui: AWS +42%, Azure +46%, GCP +75% no 4T26E). ATENÇÃO à base do GCP: a série house roda ~6-7pts acima do reportado (2T26: 88% house vs +82% reportado nas contas do Alphabet; 1T26: 70% vs 63%) — AWS e Azure batem com o reportado (37%/43%). Para o número reportado, use o gráfico do painel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29730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3c · O que os managements disseram
FONTES / NOTAS: Transcripts das calls, verbatim.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6320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3d · Clouds — a decomposição house
FONTES / NOTAS: Modelo house Capstone (Bottom-up Capex v3; comparativo = aba Comp, 14-jul-26) via dashboards Oficiais — pipeline MarketData (Fernanda Neves), atualizado 03-ago-2026. Números HOUSE, não consenso; "bogeys" = buyside. Painel "Cloud | Ótica da demanda" do rcloud.html; entidades MSFT/AWS/Google/Outros somadas na Indústria.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97027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3e · Quem depende de quem — exposição de cada cloud aos labs
FONTES / NOTAS: Modelo house Capstone (Bottom-up Capex v3; comparativo = aba Comp, 14-jul-26) via dashboards Oficiais — pipeline MarketData (Fernanda Neves), atualizado 03-ago-2026. Números HOUSE, não consenso; "bogeys" = buyside. Painel "Exposição das Clouds aos Labs". Pares âncora: MSFT↔OpenAI (com Anthropic entrando via Azure), AWS↔Anthropic, Google↔Gemini+Anthropic (TPU resale).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65547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4 · Backlog — ~$1.7 trilhão contratado
FONTES / NOTAS: Calls das empresas (MSFT fiscal→calendário). Bases distintas — não somar numa linha só; soma indicativa 2T26 ≈ $1.69T (vs ~$1.11T em fev). GOOG 1T26 inclui vendas de hardware TPU (mudança de base; "maioria ainda é contrato GCP típico"); AWS 3T25 vem de transcript parafraseado.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60919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 · Margens seguraram enquanto a AI escalou
FONTES / NOTAS: Margens: prepared remarks dos CFOs. Driver nomeado da inflexão AWS: Anthropic-on-Bedrock (~$5.5B run-rate) → +213bp t/t (SemiAnalysis 05-27). Wiz entra como headwind "low single-digit" na margem do GCP a partir do 2T26 — absorvido.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45083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5b · ROIC — a planilha do MS
FONTES / NOTAS: Morgan Stanley "The Paths to 25–50% GenAI ROIC" — Brian Nowak (w/ Byrd, Wood), 2026-07-27. Standardized unit: 1GW = 410,256 GB300s, $39bn all-in capex, $7.7bn/yr owned-infra opex, 21% tax. Rebuilt as a live-formula workbook (Capstone, 2026-07-30) — reconciles to every reported anchor. Model 3: "ROIC" é margem NOPAT (caveat do próprio MS) e a base de receita não tem o haircut de 75% de utilização — não comparar as três colunas como uma métrica só. A conta linha a linha: próximos 3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30898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5c · A conta linha a linha — Model 1
FONTES / NOTAS: Alavanca: preço por GPU-hora. Range MS $7.00–10.00, base $8.50. ROIC = NOPAT ÷ $39bn de capex bruto (steady-state ano-1, sem R&amp;D de modelo). Fonte: MS "The Paths to 25–50% GenAI ROIC", Nowak, 27-jul-2026; workbook reconstruído com fórmulas vivas (Capstone, 30-jul) fecha com todos os números reportados.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3806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5d · A conta linha a linha — Model 2
FONTES / NOTAS: Alavancas: % da capacidade em inference × tokens/s × preço por milhão de tokens (benchmark de mercado: Muse Spark 1.1 blended $1.58/M). A fatia de training não gera receita mas carrega o custo — o ROIC já nasce onerado por ela. Mesma fonte e reconciliação do slide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68116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5e · A conta linha a linha — Model 3
FONTES / NOTAS: ATENÇÃO às duas bases: sem haircut de utilização (infla receita ~33% vs Model 2) e retorno = margem NOPAT, NÃO ROIC sobre ativos (caveats do próprio MS). *Células âmbar = interpolação Capstone (não reportadas pelo MS). No bear, alugar para servir PERDE $2.5bn/GW-ano — só funciona acima de um piso de preço de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72647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5f · A mesma conta, no modelo house — economics por GW
FONTES / NOTAS: Modelo house Capstone (Bottom-up Capex v3; comparativo = aba Comp, 14-jul-26) via dashboards Oficiais — pipeline MarketData (Fernanda Neves), atualizado 03-ago-2026. Números HOUSE, não consenso; "bogeys" = buyside. Camadas por GW = classe NVDA (chip capex/GW $18.8bn CY26E) + networking + resto do DC; designers ASIC rodam mais baratos por GW (AVGO $9.0bn, TPU $9.2bn de chip-capex/GW em CY26E). Receita/GW usa GW online MÉDIO do ano (basis própria — não comparar com bases YE).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9560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6 · TAM — e se 500 milhões de usuários pagarem?
FONTES / NOTAS: Comparações: ARR combinado dos labs ~$100B (SemiAnalysis 07-08) · MSFT AI ARR $37B (F3T26) · BofA "AI 2030" AI-DC TAM ~$1.7T CY30 (infra, não software — a comparação é de escala). Ilustrativo, não estimativa 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89374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6b · A mesma pergunta, pela receita dos índices
FONTES / NOTAS: Receita agregada derivada de dados de índice Bloomberg em 31-jul-2026 (método declarado acima; STOXX convertido pelo mkt cap em USD). O what-if é receita na camada de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49938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6c · $50–200/mês é plausível? Já é a banda observada
FONTES / NOTAS: FundaAI "LLM 26H1 Pt 2" (24-jun): "average spend $211/user/month, 8.4x OpenAI’s $25". Claude Max e M365 Copilot: preços públicos. Meta: &amp;gt;60T tokens Claude/30d ≅ ≥$50k/ano/funcionário A PREÇO DE TABELA (SemiAnalysis 06-30). 99º percentil: ~$100k/ano/funcionário (dados Ramp via SemiAnalysis Ep.020, 15-jul).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82936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 · O custo da tese — capex sobre receita
FONTES / NOTAS: Frame de referência: top-4 ~$410B 2025A → ~$700–725B 2026E → ~$1.1T 2027E (JPM "AI Capex 2.0", 06-16); reescrita agregada 26–28: $1.3T → $3.4T em 12 meses (BofA 07-26). Financiamento: $1.3T de IG no 1S (GS); backstop NVDA $77.5B→$175.3B. A linha a respeitar: "the era of 20%+ surprises to hyperscaler capex expectations is likely over" (Rothschild/Redburn, 07-30).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97203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7b · A revisão de capex — 2026, 2027 e 2028
FONTES / NOTAS: Linhas: Bloomberg BEst semanal, CY27E/CY28E, soma MSFT+GOOG+META+AMZN (MSFT calendarizado de trimestres fiscais; _data/hyperscaler_revisions_2027_2028.json, asof 2026-07-31). Guides 2026: calls das empresas (GOOG 02-04/04-29/07-22 · AMZN 02-05/07-30 · META 04-29/07-29 · MSFT 04-29/07-29). Framing de referência: JPM "AI Capex 2.0" top-4 $410B 25A → $700–725B 26E → ~$1.1T 27E (06-16).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69878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7c · Capex por empresa — house vs casas
FONTES / NOTAS: Modelo house Capstone (Bottom-up Capex v3; comparativo = aba Comp, 14-jul-26) via dashboards Oficiais — pipeline MarketData (Fernanda Neves), atualizado 03-ago-2026. Números HOUSE, não consenso; "bogeys" = buyside.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74810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7d · Os gigawatts por trás do capex — house vs casas
FONTES / NOTAS: Modelo house Capstone (Bottom-up Capex v3; comparativo = aba Comp, 14-jul-26) via dashboards Oficiais — pipeline MarketData (Fernanda Neves), atualizado 03-ago-2026. Números HOUSE, não consenso; "bogeys" = buyside. Capex/GW implícito (house, CY26→28): GOOG $28→35bn · AMZN ~$30bn · META $31→34bn (vs benchmark BofA $45–47bn!) · MSFT $36–40bn · NVDA-chips $36–42bn vs MS $39–49bn. GW = basis YE instalado, ótica designers — não misturar com GW online médio (slide 5f).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57899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7e · A indústria inteira, na visão house
FONTES / NOTAS: Modelo house Capstone (Bottom-up Capex v3; comparativo = aba Comp, 14-jul-26) via dashboards Oficiais — pipeline MarketData (Fernanda Neves), atualizado 03-ago-2026. Números HOUSE, não consenso; "bogeys" = buyside. "Capex total AI" = todas as camadas da indústria (não só top-4 — cf. JPM $410bn top-4 2025 vs $396bn house indústria: bases distintas). GW EOP: 11→24→51→98→162.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68219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7f · Capex bottom-up — a conta por camadas
FONTES / NOTAS: Fonte: Bottom_Up_Capex_v3.xlsx (modelo house) via dashboard ai-capex-bottom-up, 27-jul-26. Escopo = indústria TODA (não só top-4): CY26E $902bn vs JPM top-4 $700–725bn — bases distintas; o cross-check certo é o guardrail acima (hyperscalers bottom-up $655bn CY26E vs modelo top-down $722bn = 0.91x; CY27 1.05x; CY28 1.00x). GW aqui = ADICIONADOS no ano (fluxo) — não misturar com GW instalados YE (slide 7d) nem GW online médio (slide 5f). Vintage 27-jul (o comparativo 7c/7d usa a aba Comp de 14-jul; top-4 YE28 125.8 vs 129.9 GW entre vintages).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9423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7g · O capex implícito até 2030 — a banda
FONTES / NOTAS: Fonte do teto: modelo house Bottom_Up_Capex, aba "capex implícito bottom-up" CY23→CY30E (tabela fornecida 03-ago-26): $166bn → $315 → $528 → $1,182 → $2,015 → $2,764 → $3,326 → $3,924bn. Piso da banda = escolha ILUSTRATIVA (fecha em ~$3.0T em CY30, abrindo gradualmente a partir de hoje) — não é um cenário modelado. ESCOPO ≠ slide 7f: esta série inclui memória comprada direta (DDR5+NAND+HDD, $301bn CY26E) e CPUs/servidores general-purpose ($79bn) como camadas próprias — por isso CY26E $1,182bn aqui vs $902bn no 7f; não somar entre slides. História CY23–25 = realizado no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516976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8 · Re-rating? Forward P/E contra a régua de 5 anos — mega-caps
FONTES / NOTAS: Bloomberg BEST_PE_RATIO via Capstone wrapper; BEST_FPERIOD_OVERRIDE=1BF/2BF (blended forward), weekly · início 2021-08, asof 2026-08-03. Média e ±1</a:t>
            </a:r>
            <a:r>
              <a:rPr lang="el-GR"/>
              <a:t>σ </a:t>
            </a:r>
            <a:r>
              <a:rPr lang="pt-BR"/>
              <a:t>calculadas sobre a série 1Y fwd dos 5 anos. Basis idêntica ao comp dashboard (1BF/2BF).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72838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8b · Forward P/E contra a régua de 5 anos — AI hardware
FONTES / NOTAS: Bloomberg BEST_PE_RATIO via Capstone wrapper; BEST_FPERIOD_OVERRIDE=1BF/2BF (blended forward), weekly · início 2021-08, asof 2026-08-03. Nota: 1Y/2Y fwd = BEst blended-forward; o P/E "current-FY" do terminal lê diferente (ex.: GOOG ~18.5x CY26 inflado pelo ganho Anthropic do 2T).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0531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8c · O que expandiu foi a receita de 2027/28
FONTES / NOTAS: BBG BEst, overrides 1CY/2CY/3CY, vintage 30-jan vs 31-jul. NVDA CY28 marcado PARA BAIXO (27%→23%) — conservadorismo de número grande, não fraqueza. A lição do tape (KLAC 07-28): beat-and-raise virou caso-base; onde estimativa lidera preço, a surpresa precisa continuar chegando (Barclays).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59605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9 · TSMC &amp; ASML — a camada mais funda diz ciclo até 2028–30
FONTES / NOTAS: Dois raises em seis meses, nos dois. TSMC: +$100B no Arizona (total $265B, "four or more fabs") + 13 fabs em Taiwan; capex dos próximos 3 anos "EVEN MORE significantly higher". ASML: capacidade Low-NA +30% em 2027 (~85un) e +30% em investigação para 2028 (~110un — aritmética de broker confirmada pelo IR em 07-20); 2027 "close to being fully covered with orders" (IR depois suavizou: "not completely booked… holes in the list"). Contraponto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885493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9b · Nas palavras deles — e o outro lado
FONTES / NOTAS: Transcripts verbatim (hedge do Wei mantido de propósito — deixa a citação mais crível, não menos).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66105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Veredito — e o que resolve os debates
FONTES / NOTAS: Construído da wiki de research Capstone (transcripts primários, notas de sell-side, expert calls, modelos house), 31-jul-2026. Regra de atribuição em todo dado: broker/analista ou fonte primária + data; consenso = Bloomberg BEst; ARR = run-rate estimado salvo declaração da empresa; bases de GW e backlog mantidas separadas. Não é recomendação de investimento.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91DEE4-44DA-42FF-9159-DA68E4B670DE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4435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308A1-92D2-E3F2-2AF9-AFE587592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66DE38-8AE5-77CB-8FDB-8941249F2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A3ADE-78D7-24BA-8423-4B7829943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358C0-E2A3-BA26-CC49-1D429E826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BCE62-135F-D1FD-BC81-BB5C6964E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130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FF85B-8C50-8FD9-A87A-55EED4E84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DA5ACE-0012-D6D4-930B-1C904EDFAF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6FC0F6-EED2-42F5-6671-9D8566552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992FB-BC97-6671-85D7-ABB921828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B2645-9AC7-62E5-379A-3681F437D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9654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F9B3F-82F3-0762-742B-46CC26DE7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B62B6A-34BB-CB4E-D434-E857FE40B1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C5152-16C2-F918-8D74-FA7CD7B92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EE2A7-FB4B-1F81-2094-EFFCB6A59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2AE49-7BB7-052C-CF17-56F3099CB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7042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3884F-C55E-D457-58D2-045C0800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53D362-96F8-E8D0-7297-E7271AC26A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8BC6BD-017D-A533-4C0C-2DC791163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781EF2-C67E-5493-4F05-8F6EDB5B6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709A8D-C6AA-0D95-1B2C-61030AE32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23AFD7-466A-F778-9272-1838EAA64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5297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7E3BC-6CB3-2891-5D5C-5D2854D5A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81D08-0613-5142-F8D3-F4EC2FF6A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3F2CE8-ED08-0460-38C9-713B1B1D8F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273A8B-B470-EF0C-8609-09594B5B0B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2B9FD9-C390-3BA2-DEB3-C8E9BA8067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44BABE-B9E1-2815-C83F-4299C081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0F55E8-8E8A-D53C-CDDD-8124CF48C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D3D37D-26BB-6355-DC9B-3596A1118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9853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A6E56-D1D1-107F-3A41-2AC1036CA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C7CFA1-6442-C3F1-E461-8125B333D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F12E05-6E13-90C5-8A5B-D1121880B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49E324-F3D0-C871-5F8F-D1A434FED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894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4EE5DF-29B4-CABB-D3C5-9CB380A34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29A00B-C7E7-38AF-7288-BF6614B87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194575-CB83-7590-700B-E7176E571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6847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EEE6-1BB6-82D5-087B-51DA96314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115DD-3390-225F-FC04-0F0862821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9C8CC6-A711-8D9B-525D-F103A7990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9D194E-991B-E6C5-921E-764E908F1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E65A5-D88F-A47E-578F-D054D0EE7A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61FB00-23C1-82C3-8BB5-2004AC96A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518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4CEDB-9AB7-CB0B-6852-6AA4A8EA5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5C7465-0C82-F816-9FDA-92FD993CF5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6E8A4E-3529-7432-6D76-16C80E149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B7F66E-D590-C65F-7B64-A22866D42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B60B6A-C4F7-82C0-8950-FD5C11E06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114C7-FB07-FAC5-9719-7D7318000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0124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9018D-312B-3318-5E00-157F44C22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FAB749-64C2-8E87-1454-41F0E33FB0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01CE6-CC16-4EEE-A5A5-E509D9AB5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8B55D-E9D0-95C6-8700-108CFC36E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D844D-DE56-3325-04E3-21F1E988B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1205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1394BF-566F-9105-C438-3098AEF24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667A6-6139-3372-49D7-B8ACA57323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B7CC7-736C-E2EE-AC7C-807E24CE3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222D9-55B5-AD90-5EEB-F93D5DA4D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47030-696C-C3F6-9FEF-99BFB4A4F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675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A17DC1-1509-E13C-6D95-097455B84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2AC49-0ED8-5F73-A271-CF0C67DA2E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C4F8E-3285-EB7E-B618-5D5C9D9AFC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5B329-3990-4CA3-BEB2-0109DBF5C55C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7302-6441-E942-270B-AC3A9CE7D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F4C56-4D03-0954-CBCE-F4972C4B51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0145A-E603-4CB0-8F63-94F81BCF7EA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878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0427C1-9FAD-EC56-FCF2-3F1AB1FAA2C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6995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E56F72-A670-21EF-33F2-0B214D2A271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269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CF6D4-409F-B2FD-7E04-721FC7CFB0E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256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7D5D0D-286D-5E45-C5B8-3BAA92B95BA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55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3D0D91-618A-0386-7790-6FC8FD5D63E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856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6B5E13-D907-9D81-73FB-2ED9BAE4189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718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13613F-9BF1-F824-4529-D6A1C4555A9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672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D7264C-A652-86D8-BA4F-750862B0B80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103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ACFAF5-1252-0EF6-0AD1-2FADC196FC0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0219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997AAB-D01D-D7CD-5B3C-6CDD0FAF831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6281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FE6E7D-2DCA-6C88-1A7D-8D798D6CB15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3629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F76B8A-4B28-5C73-540D-16BF7F3AFC1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960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DAC71CE-4146-33FB-CD01-44B967CE3AE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502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88E17F-6760-40B3-309C-3115BB7BEF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4427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E51D7-37AB-905F-CD3E-1FD76DE8975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755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97C314-D8AE-FA1F-A73C-47B6DE31231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5063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D10BCE-FE31-3E9C-DBDA-98ABABCCC8D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28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898BD2-BC26-7D23-0D3C-1E4F42C96A4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85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6D0DF-6720-B74F-F4E8-C35439B364E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964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396F11-6F85-BB2F-A5C3-205A177D369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239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C83728-87F3-0733-6245-34A65072B08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0980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00B357-A56D-25B3-5D10-7B38D34C287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571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86C3FD-B35A-B598-B8CC-C6B6A4DEBA3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846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B48425-2398-1174-4C4D-9A9741235B7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5727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F44DD8-4806-745F-81AA-8D751D7AD78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95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455775-F619-2CD2-5B8C-40F32938F13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8094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1025D7-B12D-4F9B-E5BD-73921AD41A2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4090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021E8-2C7D-AEF5-EA7E-15AD87731BA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2803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5437B6-8714-E647-ED1D-C853684F4A5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1016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D7A342-CC97-7DE3-643C-92A8A6AFD51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5035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ADABB5-7002-0B83-DD8E-AA5BD188ED5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6731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0367E8-1F7E-8117-AD14-814B8D3E8E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7108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930A32-E5F2-A14D-7280-0602B36FDB6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7437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CB7E88-1183-4914-9571-D5126293594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7290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010A8C-4322-8C4E-CD98-1C67E68C352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953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3265</Words>
  <Application>Microsoft Office PowerPoint</Application>
  <PresentationFormat>Custom</PresentationFormat>
  <Paragraphs>70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Monteiro</dc:creator>
  <cp:lastModifiedBy>Felipe Monteiro</cp:lastModifiedBy>
  <cp:revision>1</cp:revision>
  <dcterms:created xsi:type="dcterms:W3CDTF">2026-08-04T23:01:51Z</dcterms:created>
  <dcterms:modified xsi:type="dcterms:W3CDTF">2026-08-04T23:01:51Z</dcterms:modified>
</cp:coreProperties>
</file>