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8D8D5-007A-4FC8-B992-27FE0792EF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7447D-B360-4E6B-AB1B-A8DF8DF4248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821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AI Update — Recap Fev→Jul 2026 · Capstone. A demanda está se fortalecendo na ponta? Nove sinais, na ordem; oito ficaram mais fortes entre fevereiro e julho — o nono é a conta.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485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nove sinais em uma página
FONTES / NOTAS: Cada linha detalhada nos slides seguintes, com fonte e data em cada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554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1 · Lab ARR — a curva de receita que o capex persegue
FONTES / NOTAS: Marcas de run-rate como registradas na wiki: FundaAI (06-24) · Barclays (06-01) · SemiAnalysis (07-08) · Yipit (07-10) · The Information (03-04) · CNBC (07-30). Contraponto honesto: 1ª leitura contrária no Anthropic em 07-24 (TickerTrends, não verificada); o "julho &amp;gt; todo o 2T" da OpenAI ainda não tem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261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2 · Tokens — a foto inteira do OpenRouter
FONTES / NOTAS: Chart "Tokens processed per week" do openrouter.ai/rankings, capturado ao vivo em 03-ago-2026; barra hachurada = semana em curso (contabilizado + forecast do site). Atribuição por lab = top-10 modelos DA SEMANA (como no site) — o resto cai em "Outros"; por isso a Anthropic "some" das barras de julho: Claude saiu do top-10 de VOLUME com a inundação de open-weights, mas segue ~46% da RECEITA da plataforma (premium models carregam a economia; volume ≠ economics). Marketplace ≠ indústria — use a inclinação, não o 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4585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2b · Os outros medidores apontam igual
FONTES / NOTAS: Fontes: calls do Alphabet (Pichai/Ashkenazi) e Microsoft (Nadella/Hood); wiki OpenRouter pipeline. C.C. Wei (TSMC 1T26): "the shift to agentic AI in command-and-action mode is leading to another step-up in the amount of tokens being consumed."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1213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2c · A queda do custo do token — o preço da mesma capacidade colapsa
FONTES / NOTAS: Fontes por datapoint no gráfico (hover). Curva de capacidade: Exponential View "State of the AI Economy 2026", 25-jun-26 (análise EV + Epoch AI) — valores lidos de gráfico, tratar como ±. Preço realizado e margens: modelo Tokenomics da SemiAnalysis, 08-jul-26. Custo de servir: SemiAnalysis InferenceX, 09-jun-26. Tokens por tarefa: Exponential View p.42 (OpenRouter + Bai et al. 2026). A anotação do próprio gráfico da EV: "Labs earn a time-limited premium on the current frontier" — o preço do frontier NÃO cai; o que cai é o preço de ONTEM.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9170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2d · A conta — por que a receita sobe com o preço caindo
FONTES / NOTAS: Conta: ambas as pernas vêm da MESMA nota (SemiAnalysis "Anthropic 3Q26 Profit Over $1B", 08-jul-26) — internamente consistente, e cruzada com quatro medidores de volume independentes. Tokens por tarefa: Exponential View p.42 (OpenRouter + Bai et al. 2026). Custo de servir: InferenceX 09-jun-26 (leitura de gráfico). O CONTRAPONTO, mantido honesto: Sonnet 5 SOBE +50% em 01-set (de $2/$10 para $3/$15) e o Kimi K3 subiu ~3x vs o próprio K2.6 ($0.95/$4 → $3/$15); a Citi (10-jul) vê "average output-token prices RISING" com aluguel de GPU em alta; a Redburn mede que, ajustado por cache (~98% dos tokens em uso agentino real), o open-weight é só ~2x mais barato — não 76x; e o HBM ~dobra de custo em 2027 (Fubon 28-jul), empurrando o custo por token para CIMA. A conta do cliente sobe mesmo com o preço unitário caindo: $100 → $1.500 por desenvolvedor em 6-7 meses (UBS 26-jul).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6677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3 · Cloud — os três acelerando juntos
FONTES / NOTAS: MSFT/GOOG/AMZN earnings transcripts, CQ2’24–CQ2’26 (MSFT fiscal quarters mapped to calendar). Azure = as-reported (cc variants in table); guide point = ~45% cc for CQ3’26, guided 2026-07-29. 2T26 do GCP inclui a primeira receita de venda de sistemas TPU — "accelerated meaningfully even after excluding TPU sales" (CFO); a receita do 1T26 é ex-TPU (a mudança de base do 1T foi só no backlog).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3150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3b · O quadro completo das clouds — crescimento, Δ$ e net new ARR
FONTES / NOTAS: Fonte: painel "Resultado" do dashboard Oficiais (rcloud.html) — modelo house TAM_Cloud.xlsb aba 'Mercado', último trimestre reportado 2T26, série própria até 4T26E (não plotada aqui: AWS +42%, Azure +46%, GCP +75% no 4T26E). ATENÇÃO à base do GCP: a série house roda ~6-7pts acima do reportado (2T26: 88% house vs +82% reportado nas contas do Alphabet; 1T26: 70% vs 63%) — AWS e Azure batem com o reportado (37%/43%). Para o número reportado, use o gráfico do painel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14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3c · O que os managements disseram
FONTES / NOTAS: Transcripts das calls,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278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3d · Clouds — a decomposição house
FONTES / NOTAS: Modelo house Capstone — AI Model "pós spcx" (Modelos oficiais, lido 05-ago-26), aba Comp. Números HOUSE, não consenso; "bogeys" = buyside. Vintage anterior (aba Comp 14-jul via dashboards Oficiais) substituído. Painel "Cloud | Ótica da demanda" do rcloud.html; entidades MSFT/AWS/Google/Outros somadas na Indústria.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897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3e · Quem depende de quem — exposição de cada cloud aos labs
FONTES / NOTAS: Modelo house Capstone — AI Model "pós spcx" (Modelos oficiais, lido 05-ago-26), aba Comp. Números HOUSE, não consenso; "bogeys" = buyside. Vintage anterior (aba Comp 14-jul via dashboards Oficiais) substituído. Painel "Exposição das Clouds aos Labs". Pares âncora: MSFT↔OpenAI (com Anthropic entrando via Azure), AWS↔Anthropic, Google↔Gemini+Anthropic (TPU resale).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715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3f · Exposição das clouds aos labs — quanto é lab, e em que os labs gastam
FONTES / NOTAS: Réplica do painel "Exposição das Clouds aos Labs" (rcloud.html, Fernanda Neves, snapshot 03-ago-26) — corte Indústria · % Mix · Todos os labs. Fonte: Resumo | Clouds do AI Model — gráficos 1-2 usam o bloco RC/RCLABS ('ótica da demanda', split por lab pró-rata sobre AI Labs); gráficos 3-4 usam o bloco 'Receita que as Clouds fazem com os Labs' por tipo. ⚠ os dois blocos da planilha NÃO fecham entre si (linha "check" da planilha ≈1.17x) — por isso 3-4 usam o PRÓPRIO total (não o do gráfico 1). Crescimento = Δ a/a (CY24 ancora no CY23 base; CY25-28E = ano vs ano anterior); em % de mix o crescimento pode passar de 100% num segmento se outro encolheu.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813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4 · Backlog — ~$1.7 trilhão contratado
FONTES / NOTAS: Calls das empresas (MSFT fiscal→calendário). Bases distintas — não somar numa linha só; soma indicativa 2T26 ≈ $1.69T (vs ~$1.11T em fev). GOOG 1T26 inclui vendas de hardware TPU (mudança de base; "maioria ainda é contrato GCP típico"); AWS 3T25 vem de transcript parafraseado.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40230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5 · Margens seguraram enquanto a AI escalou
FONTES / NOTAS: Margens: prepared remarks dos CFOs. Driver nomeado da inflexão AWS: Anthropic-on-Bedrock (~$5.5B run-rate) → +213bp t/t (SemiAnalysis 05-27). Wiz entra como headwind "low single-digit" na margem do GCP a partir do 2T26 — absorvido.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9996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5b · ROIC — a planilha do MS
FONTES / NOTAS: Morgan Stanley "The Paths to 25–50% GenAI ROIC" — Brian Nowak (w/ Byrd, Wood), 2026-07-27. Standardized unit: 1GW = 410,256 GB300s, $39bn all-in capex, $7.7bn/yr owned-infra opex, 21% tax. Rebuilt as a live-formula workbook (Capstone, 2026-07-30) — reconciles to every reported anchor. Model 3: "ROIC" é margem NOPAT (caveat do próprio MS) e a base de receita não tem o haircut de 75% de utilização — não comparar as três colunas como uma métrica só. A conta linha a linha: próximos 3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1360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5c · A conta linha a linha — Model 1
FONTES / NOTAS: Alavanca: preço por GPU-hora. Range MS $7.00–10.00, base $8.50. ROIC = NOPAT ÷ $39bn de capex bruto (steady-state ano-1, sem R&amp;D de modelo). Fonte: MS "The Paths to 25–50% GenAI ROIC", Nowak, 27-jul-2026; workbook reconstruído com fórmulas vivas (Capstone, 30-jul) fecha com todos os números reportados.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91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5d · A conta linha a linha — Model 2
FONTES / NOTAS: Alavancas: % da capacidade em inference × tokens/s × preço por milhão de tokens (benchmark de mercado: Muse Spark 1.1 blended $1.58/M). A fatia de training não gera receita mas carrega o custo — o ROIC já nasce onerado por ela. Mesma fonte e reconciliação do slide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751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5e · A conta linha a linha — Model 3
FONTES / NOTAS: ATENÇÃO às duas bases: sem haircut de utilização (infla receita ~33% vs Model 2) e retorno = margem NOPAT, NÃO ROIC sobre ativos (caveats do próprio MS). *Células âmbar = interpolação Capstone (não reportadas pelo MS). No bear, alugar para servir PERDE $2.5bn/GW-ano — só funciona acima de um piso de preço de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9701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5f · A mesma conta, no modelo house — economics por GW
FONTES / NOTAS: Modelo house Capstone — AI Model "pós spcx" (Modelos oficiais, lido 05-ago-26), aba Comp. Números HOUSE, não consenso; "bogeys" = buyside. Vintage anterior (aba Comp 14-jul via dashboards Oficiais) substituído. Camadas por GW = classe NVDA (chip capex/GW $18.8bn CY26E) + networking + resto do DC; designers ASIC rodam mais baratos por GW (AVGO $9.0bn, TPU $9.2bn de chip-capex/GW em CY26E). Receita/GW usa GW online MÉDIO do ano (basis própria — não comparar com bases YE).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1556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6 · TAM — e se 500 milhões de usuários pagarem?
FONTES / NOTAS: Comparações: ARR combinado dos labs ~$100B (SemiAnalysis 07-08) · MSFT AI ARR $37B (F3T26) · BofA "AI 2030" AI-DC TAM ~$1.7T CY30 (infra, não software — a comparação é de escala). Ilustrativo, não estimativa 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1068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6b · A mesma pergunta, pela receita dos índices
FONTES / NOTAS: Receita agregada derivada de dados de índice Bloomberg em 31-jul-2026 (método declarado acima; STOXX convertido pelo mkt cap em USD). O what-if é receita na camada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6974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6c · $50–200/mês é plausível? Já é a banda observada
FONTES / NOTAS: FundaAI "LLM 26H1 Pt 2" (24-jun): "average spend $211/user/month, 8.4x OpenAI’s $25". Claude Max e M365 Copilot: preços públicos. Meta: &amp;gt;60T tokens Claude/30d ≅ ≥$50k/ano/funcionário A PREÇO DE TABELA (SemiAnalysis 06-30). 99º percentil: ~$100k/ano/funcionário (dados Ramp via SemiAnalysis Ep.020, 15-jul).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750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7 · O custo da tese — capex sobre receita
FONTES / NOTAS: Frame de referência: top-4 ~$410B 2025A → ~$700–725B 2026E → ~$1.1T 2027E (JPM "AI Capex 2.0", 06-16); reescrita agregada 26–28: $1.3T → $3.4T em 12 meses (BofA 07-26). Financiamento: $1.3T de IG no 1S (GS); backstop NVDA $77.5B→$175.3B. A linha a respeitar: "the era of 20%+ surprises to hyperscaler capex expectations is likely over" (Rothschild/Redburn, 07-30).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9227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7b · A revisão de capex — 2026, 2027 e 2028
FONTES / NOTAS: Linhas: Bloomberg BEst semanal, CY27E/CY28E, soma MSFT+GOOG+META+AMZN (MSFT calendarizado de trimestres fiscais; _data/hyperscaler_revisions_2027_2028.json, asof 2026-07-31). Guides 2026: calls das empresas (GOOG 02-04/04-29/07-22 · AMZN 02-05/07-30 · META 04-29/07-29 · MSFT 04-29/07-29). Framing de referência: JPM "AI Capex 2.0" top-4 $410B 25A → $700–725B 26E → ~$1.1T 27E (06-16).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4757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7c · Capex por empresa — house vs casas
FONTES / NOTAS: Modelo house Capstone — AI Model "pós spcx" (Modelos oficiais, lido 05-ago-26), aba Comp. Números HOUSE, não consenso; "bogeys" = buyside. Vintage anterior (aba Comp 14-jul via dashboards Oficiais) substituído.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7942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7d · Os gigawatts por trás do capex — house vs casas
FONTES / NOTAS: Modelo house Capstone — AI Model "pós spcx" (Modelos oficiais, lido 05-ago-26), aba Comp. Números HOUSE, não consenso; "bogeys" = buyside. Vintage anterior (aba Comp 14-jul via dashboards Oficiais) substituído. Capex/GW implícito (house, CY26→28, pós-spcx): GOOG $29.5→40.1bn (em CY28 já ACIMA do benchmark BofA de 38.4) · AMZN $31→34bn · META $32→38bn (vs BofA 45–47) · MSFT $37→47bn · NVDA-chips $37→51bn vs MS 39→49.5. GW = basis YE instalado, ótica designers — não misturar com GW online médio (slide 5f).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5749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7e · A indústria inteira, na visão house
FONTES / NOTAS: Modelo house Capstone — AI Model "pós spcx" (Modelos oficiais, lido 05-ago-26), aba Comp. Números HOUSE, não consenso; "bogeys" = buyside. Vintage anterior (aba Comp 14-jul via dashboards Oficiais) substituído. "Capex total AI" = todas as camadas da indústria (não só top-4 — cf. JPM $410bn top-4 2025 vs $396bn house indústria: bases distintas). GW EOP: 11→24→51→102→171.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5244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7f · Capex bottom-up — a conta por camadas
FONTES / NOTAS: Fonte: Bottom_Up_Capex_v3.xlsx (modelo house) via dashboard ai-capex-bottom-up, 27-jul-26. Escopo = indústria TODA (não só top-4): CY26E $902bn vs JPM top-4 $700–725bn — bases distintas; o cross-check certo é o guardrail acima (hyperscalers bottom-up $682bn CY26E vs modelo top-down $718bn = 0.95x; CY27 1.12x — o bottom-up agora SUPERA o top-down; CY28 1.00x). GW aqui = ADICIONADOS no ano (fluxo) — não misturar com GW instalados YE (slide 7d) nem GW online médio (slide 5f). Serie principal = AI Model pos-spcx (05-ago); chart de arquiteturas = vintage dashboard 27-jul (variacoes &amp;lt;2% no CY27).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7414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7g · O capex implícito até 2030 — a banda
FONTES / NOTAS: Fonte do teto: modelo house Bottom_Up_Capex, aba "capex implícito bottom-up" CY23→CY30E (03-ago): $166bn → $315 → $528 → $1,182 → $2,015 → $2,764 → $3,326 → $3,924bn. Piso = escolha ILUSTRATIVA (~$3.0T em CY30), não cenário modelado. EBITDA: soma MSFT+GOOG+META+AMZN, consenso BBG BEst CY27/28 (31-jul, MSFT calendarizado); CY29/30 = EXTRAPOLAÇÃO ao growth do consenso 27→28 (+25.4%/ano), não consenso. LEIA COM CUIDADO: (1) bases distintas — a banda é a indústria TODA (labs, neoclouds, ORCL, SpaceX…), vs EBITDA só dos 4 — o gap é o cheque que passa a dívida/SPVs/outros funders, não "déficit dos 4"; (2) EBITDA é proxy de geração de caixa PRÉ-imposto, juros e capital de giro — e antes do próprio capex; (3) escopo ≠ slide 7f (memória direta e CPUs como camadas próprias; CY26E $1,182bn aqui vs $902bn lá). Cross-check: JPM acumula $5.5T até 2030 (16-jun) vs ~$13.7T do teto house. FLAG pós-spcx (05-ago): o AI Model novo imprime CY28E $2.91T — acima do ponto CY28 da banda ($2.76T) mesmo em escopo menor; a tabela implícita ainda não absorveu a revisão → o teto está conservador.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30371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8 · Re-rating? Forward P/E contra a régua de 5 anos — mega-caps
FONTES / NOTAS: Bloomberg BEST_PE_RATIO via Capstone wrapper; BEST_FPERIOD_OVERRIDE=1BF/2BF (blended forward), weekly · início 2021-08, asof 2026-08-03. Média e ±1</a:t>
            </a:r>
            <a:r>
              <a:rPr lang="el-GR"/>
              <a:t>σ </a:t>
            </a:r>
            <a:r>
              <a:rPr lang="pt-BR"/>
              <a:t>calculadas sobre a série 1Y fwd dos 5 anos. Basis idêntica ao comp dashboard (1BF/2BF).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1982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8b · Forward P/E contra a régua de 5 anos — AI hardware
FONTES / NOTAS: Bloomberg BEST_PE_RATIO via Capstone wrapper; BEST_FPERIOD_OVERRIDE=1BF/2BF (blended forward), weekly · início 2021-08, asof 2026-08-03. Nota: 1Y/2Y fwd = BEst blended-forward; o P/E "current-FY" do terminal lê diferente (ex.: GOOG ~18.5x CY26 inflado pelo ganho Anthropic do 2T).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7628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8c · O que expandiu foi a receita de 2027/28
FONTES / NOTAS: BBG BEst, overrides 1CY/2CY/3CY, vintage 30-jan vs 31-jul. NVDA CY28 marcado PARA BAIXO (27%→23%) — conservadorismo de número grande, não fraqueza. A lição do tape (KLAC 07-28): beat-and-raise virou caso-base; onde estimativa lidera preço, a surpresa precisa continuar chegando (Barclays).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5889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9 · TSMC &amp; ASML — a camada mais funda diz ciclo até 2028–30
FONTES / NOTAS: Dois raises em seis meses, nos dois. TSMC: +$100B no Arizona (total $265B, "four or more fabs") + 13 fabs em Taiwan; capex dos próximos 3 anos "EVEN MORE significantly higher". ASML: capacidade Low-NA +30% em 2027 (~85un) e +30% em investigação para 2028 (~110un — aritmética de broker confirmada pelo IR em 07-20); 2027 "close to being fully covered with orders" (IR depois suavizou: "not completely booked… holes in the list"). Contraponto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1402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9b · Nas palavras deles — e o outro lado
FONTES / NOTAS: Transcripts verbatim (hedge do Wei mantido de propósito — deixa a citação mais crível, não menos).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19727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Veredito — e o que resolve os debates
FONTES / NOTAS: Construído da wiki de research Capstone (transcripts primários, notas de sell-side, expert calls, modelos house), 31-jul-2026. Regra de atribuição em todo dado: broker/analista ou fonte primária + data; consenso = Bloomberg BEst; ARR = run-rate estimado salvo declaração da empresa; bases de GW e backlog mantidas separadas. Não é recomendação de investimento.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447D-B360-4E6B-AB1B-A8DF8DF4248C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598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0140-566F-0989-FD45-87D58A346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BBAF7-42FA-F714-F8BF-EE9EDBF55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2224E-2EAF-1BC2-6022-E63D82A0D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612BB-057F-E21F-83BD-B6772B1C8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2D355-4D95-456E-4E2D-58603E93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70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4221-D5F1-5B07-6BC6-82B1345D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AF741-9666-F3BD-E99D-880B053B7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7E299-8B03-AC44-BD69-5CF8777F3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604A4-8964-1564-79ED-C5FC9933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D74EE-8E19-C1A5-E400-F7EABF37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67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AC8C-BFF8-E403-5684-5114FE36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429B9-3457-64B7-1A8B-25059C844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62C2E-8209-6E02-FDCA-D4E2B20D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569E3-CD95-900C-4588-6CF2E6641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53D0D-AD32-02EA-97C9-521D02EB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68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3281-8232-5D94-8FAB-8B1B195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1D8F5-B03F-0AEB-B82F-A837E5C5A3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A1E8B-96FA-2537-4CAE-992C70D51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05961-DC22-A4E9-9F47-0D75C2F0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112C6-02E3-BB9F-028B-4C09297DC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2927A-FC13-CDBC-9994-752006DD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7110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D327-FE2F-6083-238D-8B5B0B6D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92476-1889-C847-3708-45ED9A5C3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A4327-C6EB-638E-1850-14163CBB8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83F21-6DF3-1C98-C1F9-8CB0FB22F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3FCD7-10AB-62FB-FF20-BAE31161D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7082FB-AE52-89BA-A2BE-96564A2F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6088E2-9C9A-6D8B-73E3-DDAEFC929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968F8-3FDF-E820-AE1D-25F8314E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967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DDB2-F2E5-11B5-42CA-2CA96DA6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4EB09-D1C0-19E8-C5A7-B7266FA9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E940B-A932-303D-9A6A-116E870E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F3227-E68C-D12E-919D-6CF50EAF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618DB-B38E-03BB-0C0F-4B06CC7CA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E29443-F3E0-44FF-ABDC-5A1D3E8FE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2F348-4BA2-D90B-215D-37735CCE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999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3464D-8CD3-0A61-FFDC-2CF46274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9ADA-24A3-B9C6-AEA5-562539CB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9D80D-BBB3-7F86-480E-0CCB5401A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BEE88-FEE0-05B7-6229-6FFEE695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B4F86-CEC6-B13D-5E27-15BCA093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F2F84-193C-9FD8-4D5C-D7F914FC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721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3DA8-4DB7-C491-7D43-0B72F391B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D4A14-C923-044F-ABDF-366436D81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ADA7F-993F-34F7-2B04-EE41E48E9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12609-9CB1-455A-CC03-E324D5F3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F91DD-5ACF-3B50-2A35-071F5A44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70D3C-B1F1-3C3A-C46B-4135CEDB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658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C800D-5BE0-1E80-9F80-E4227123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CB432-FEC1-3C63-CCAA-67188C8BC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DF035-8B5C-A21E-57BA-B71854B4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9B92F-B668-973D-4C1D-7A182D05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FB39D-9CDC-A5D1-F076-CB67BA6F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86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91D104-F4B2-617F-C654-EEBAB59EE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D9C0AF-F691-EC89-9D51-E745114F2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1C5D1-88B6-7E0E-52BD-54BFA5757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6E1D6-FC59-079D-0C72-10C81D33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AF864-FF6D-87F5-BA03-08037D1A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67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199A09-F611-D0D4-2886-4D685AF1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0A73B-296D-488E-5EFD-4F7167587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96169-9FF0-4B56-14F5-45418F2B2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C1E28-0FA6-4D3B-AC55-32949BA4F51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ACAE7-9D86-8288-19D2-9939CE629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4CD6A-FEA6-8354-5F17-834DFD6A7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696C5-256D-4026-89CE-5C434F8259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22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8EC446-6A70-1710-F4C5-0FA9FB58C9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70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76B01C-D70B-D3B1-6FEB-2245081204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80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9D960F-7F36-8F31-EC91-D012A5E36E6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75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BFAF34-7870-2AB1-6EB4-E679715939A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87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14750-557E-0D56-AC36-5CFE4211487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3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61A68D-0979-0333-1B41-8797C0B276A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1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67FC8-8F85-409D-49B6-B5DE5BAC320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85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6CA282-7EB6-91FF-792A-CA7CAADC43B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32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004933-99FD-E37A-2829-7E722B12F4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74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D58EE-AC26-6562-9476-786C7918602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75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11EE9B-EFB7-FBD4-04E3-F1EF13BA38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03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BB191-F7F6-7646-E5E7-B4CB53B97FE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05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402B1-F0E8-097C-BD14-694EB5B06F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26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27275E-2F48-47E5-0C07-6C9BF8F6CAC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49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FD9E88-AEF7-7554-D295-79FD93B3EDA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13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F81E2-355E-46B8-B7FA-44BA2F5B85A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91EAF-3A9E-3E2E-FC92-69AE5DB69F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47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15E4F8-467E-093F-595E-AFE6024E0DC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03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CFA7F0-65ED-E784-69BB-C7DC11A7DB0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50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7E4753-262E-22A2-5730-82728E29BD7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70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D537FD-0F74-2935-F0C7-9C4DF8EAEE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854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1C9DB4-8670-A96C-648E-4EA864CA4A0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80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773137-D963-D62A-57C2-818344F5023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02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4E0992-CEAE-F074-4F84-C91A5BAF6D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87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9F0023-FC7B-A551-FF54-D0AF944A4A9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30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67751E-8019-6C49-6215-892294B9724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618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6EDCF4-8E77-1CB5-96DF-4AF4DAE5720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3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E640DA-EB11-ACA5-A184-8360CF68B9B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97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44109-7630-7F91-B344-CC1C572246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13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6474B-635A-ADEE-F0AC-1FAFCB4A70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457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8FC828-098A-7F9A-C3FB-F98C77F2C2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5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0FEB3F-E4A8-A85A-1C68-F38C8D5D9AE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814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5478E-BFEA-04B7-AB91-D6F1692D3CF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018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13851-B9FD-9116-6B2A-5C3EF54A725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96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8059ED-4BBF-9C7D-9714-6641B8048A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307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69E236-D465-E58D-D91B-5262EB31E1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99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3617</Words>
  <Application>Microsoft Office PowerPoint</Application>
  <PresentationFormat>Custom</PresentationFormat>
  <Paragraphs>72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Monteiro</dc:creator>
  <cp:lastModifiedBy>Felipe Monteiro</cp:lastModifiedBy>
  <cp:revision>1</cp:revision>
  <dcterms:created xsi:type="dcterms:W3CDTF">2026-08-05T14:27:21Z</dcterms:created>
  <dcterms:modified xsi:type="dcterms:W3CDTF">2026-08-05T14:27:21Z</dcterms:modified>
</cp:coreProperties>
</file>