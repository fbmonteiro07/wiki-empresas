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C54AB-812F-4224-A0C3-C39531EEEB61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D48BF-8B53-49C2-82BB-F1F80670D1A8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191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AI Update — Recap Fev→Jul 2026 · Capstone. A demanda está se fortalecendo na ponta? Nove sinais, na ordem; oito ficaram mais fortes entre fevereiro e julho — o nono é a conta.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7985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Os nove sinais em uma página
FONTES / NOTAS: Cada linha detalhada nos slides seguintes, com fonte e data em cada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490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1 · Lab ARR — a curva de receita que o capex persegue
FONTES / NOTAS: Marcas de run-rate como registradas na wiki: FundaAI (06-24) · Barclays (06-01) · SemiAnalysis (07-08) · Yipit (07-10) · The Information (03-04) · CNBC (07-30). Contraponto honesto: 1ª leitura contrária no Anthropic em 07-24 (TickerTrends, não verificada); o "julho &amp;gt; todo o 2T" da OpenAI ainda não tem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8955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 · Tokens — a foto inteira do OpenRouter
FONTES / NOTAS: Chart "Tokens processed per week" do openrouter.ai/rankings, capturado ao vivo em 03-ago-2026; barra hachurada = semana em curso (contabilizado + forecast do site). Atribuição por lab = top-10 modelos DA SEMANA (como no site) — o resto cai em "Outros"; por isso a Anthropic "some" das barras de julho: Claude saiu do top-10 de VOLUME com a inundação de open-weights, mas segue ~46% da RECEITA da plataforma (premium models carregam a economia; volume ≠ economics). Marketplace ≠ indústria — use a inclinação, não o nível.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8888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2b · Os outros medidores apontam igual
FONTES / NOTAS: Fontes: calls do Alphabet (Pichai/Ashkenazi) e Microsoft (Nadella/Hood); wiki OpenRouter pipeline. C.C. Wei (TSMC 1T26): "the shift to agentic AI in command-and-action mode is leading to another step-up in the amount of tokens being consumed."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060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2c · A queda do custo do token — o preço da mesma capacidade colapsa
FONTES / NOTAS: Fontes por datapoint no gráfico (hover). Curva de capacidade: Exponential View "State of the AI Economy 2026", 25-jun-26 (análise EV + Epoch AI) — valores lidos de gráfico, tratar como ±. Preço realizado e margens: modelo Tokenomics da SemiAnalysis, 08-jul-26. Custo de servir: SemiAnalysis InferenceX, 09-jun-26. Tokens por tarefa: Exponential View p.42 (OpenRouter + Bai et al. 2026). A anotação do próprio gráfico da EV: "Labs earn a time-limited premium on the current frontier" — o preço do frontier NÃO cai; o que cai é o preço de ONTEM.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8031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2d · A conta — por que a receita sobe com o preço caindo
FONTES / NOTAS: Conta: ambas as pernas vêm da MESMA nota (SemiAnalysis "Anthropic 3Q26 Profit Over $1B", 08-jul-26) — internamente consistente, e cruzada com quatro medidores de volume independentes. Tokens por tarefa: Exponential View p.42 (OpenRouter + Bai et al. 2026). Custo de servir: InferenceX 09-jun-26 (leitura de gráfico). O CONTRAPONTO, mantido honesto: Sonnet 5 SOBE +50% em 01-set (de $2/$10 para $3/$15) e o Kimi K3 subiu ~3x vs o próprio K2.6 ($0.95/$4 → $3/$15); a Citi (10-jul) vê "average output-token prices RISING" com aluguel de GPU em alta; a Redburn mede que, ajustado por cache (~98% dos tokens em uso agentino real), o open-weight é só ~2x mais barato — não 76x; e o HBM ~dobra de custo em 2027 (Fubon 28-jul), empurrando o custo por token para CIMA. A conta do cliente sobe mesmo com o preço unitário caindo: $100 → $1.500 por desenvolvedor em 6-7 meses (UBS 26-jul).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7700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 · Cloud — os três acelerando juntos
FONTES / NOTAS: MSFT/GOOG/AMZN earnings transcripts, CQ2’24–CQ2’26 (MSFT fiscal quarters mapped to calendar). Azure = as-reported (cc variants in table); guide point = ~45% cc for CQ3’26, guided 2026-07-29. 2T26 do GCP inclui a primeira receita de venda de sistemas TPU — "accelerated meaningfully even after excluding TPU sales" (CFO); a receita do 1T26 é ex-TPU (a mudança de base do 1T foi só no backlog).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0484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3b · O quadro completo das clouds — crescimento, Δ$ e net new ARR
FONTES / NOTAS: Fonte: painel "Resultado" do dashboard Oficiais (rcloud.html) — modelo house TAM_Cloud.xlsb aba 'Mercado', último trimestre reportado 2T26, série própria até 4T26E (não plotada aqui: AWS +42%, Azure +46%, GCP +75% no 4T26E). ATENÇÃO à base do GCP: a série house roda ~6-7pts acima do reportado (2T26: 88% house vs +82% reportado nas contas do Alphabet; 1T26: 70% vs 63%) — AWS e Azure batem com o reportado (37%/43%). Para o número reportado, use o gráfico do painel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81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3c · O que os managements disseram
FONTES / NOTAS: Transcripts das calls, verbatim.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521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3d · Clouds — a decomposição house
FONTES / NOTAS: Modelo house Capstone (Bottom-up Capex v3; comparativo = aba Comp, 14-jul-26) via dashboards Oficiais — pipeline MarketData (Fernanda Neves), atualizado 03-ago-2026. Números HOUSE, não consenso; "bogeys" = buyside. Painel "Cloud | Ótica da demanda" do rcloud.html; entidades MSFT/AWS/Google/Outros somadas na Indústria.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215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3e · Quem depende de quem — exposição de cada cloud aos labs
FONTES / NOTAS: Modelo house Capstone (Bottom-up Capex v3; comparativo = aba Comp, 14-jul-26) via dashboards Oficiais — pipeline MarketData (Fernanda Neves), atualizado 03-ago-2026. Números HOUSE, não consenso; "bogeys" = buyside. Painel "Exposição das Clouds aos Labs". Pares âncora: MSFT↔OpenAI (com Anthropic entrando via Azure), AWS↔Anthropic, Google↔Gemini+Anthropic (TPU resale).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8338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4 · Backlog — ~$1.7 trilhão contratado
FONTES / NOTAS: Calls das empresas (MSFT fiscal→calendário). Bases distintas — não somar numa linha só; soma indicativa 2T26 ≈ $1.69T (vs ~$1.11T em fev). GOOG 1T26 inclui vendas de hardware TPU (mudança de base; "maioria ainda é contrato GCP típico"); AWS 3T25 vem de transcript parafraseado.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66687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 · Margens seguraram enquanto a AI escalou
FONTES / NOTAS: Margens: prepared remarks dos CFOs. Driver nomeado da inflexão AWS: Anthropic-on-Bedrock (~$5.5B run-rate) → +213bp t/t (SemiAnalysis 05-27). Wiz entra como headwind "low single-digit" na margem do GCP a partir do 2T26 — absorvido.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8297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5b · ROIC — a planilha do MS
FONTES / NOTAS: Morgan Stanley "The Paths to 25–50% GenAI ROIC" — Brian Nowak (w/ Byrd, Wood), 2026-07-27. Standardized unit: 1GW = 410,256 GB300s, $39bn all-in capex, $7.7bn/yr owned-infra opex, 21% tax. Rebuilt as a live-formula workbook (Capstone, 2026-07-30) — reconciles to every reported anchor. Model 3: "ROIC" é margem NOPAT (caveat do próprio MS) e a base de receita não tem o haircut de 75% de utilização — não comparar as três colunas como uma métrica só. A conta linha a linha: próximos 3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1777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5c · A conta linha a linha — Model 1
FONTES / NOTAS: Alavanca: preço por GPU-hora. Range MS $7.00–10.00, base $8.50. ROIC = NOPAT ÷ $39bn de capex bruto (steady-state ano-1, sem R&amp;D de modelo). Fonte: MS "The Paths to 25–50% GenAI ROIC", Nowak, 27-jul-2026; workbook reconstruído com fórmulas vivas (Capstone, 30-jul) fecha com todos os números reportados.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1006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5d · A conta linha a linha — Model 2
FONTES / NOTAS: Alavancas: % da capacidade em inference × tokens/s × preço por milhão de tokens (benchmark de mercado: Muse Spark 1.1 blended $1.58/M). A fatia de training não gera receita mas carrega o custo — o ROIC já nasce onerado por ela. Mesma fonte e reconciliação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56504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5e · A conta linha a linha — Model 3
FONTES / NOTAS: ATENÇÃO às duas bases: sem haircut de utilização (infla receita ~33% vs Model 2) e retorno = margem NOPAT, NÃO ROIC sobre ativos (caveats do próprio MS). *Células âmbar = interpolação Capstone (não reportadas pelo MS). No bear, alugar para servir PERDE $2.5bn/GW-ano — só funciona acima de um piso de preço de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956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5f · A mesma conta, no modelo house — economics por GW
FONTES / NOTAS: Modelo house Capstone (Bottom-up Capex v3; comparativo = aba Comp, 14-jul-26) via dashboards Oficiais — pipeline MarketData (Fernanda Neves), atualizado 03-ago-2026. Números HOUSE, não consenso; "bogeys" = buyside. Camadas por GW = classe NVDA (chip capex/GW $18.8bn CY26E) + networking + resto do DC; designers ASIC rodam mais baratos por GW (AVGO $9.0bn, TPU $9.2bn de chip-capex/GW em CY26E). Receita/GW usa GW online MÉDIO do ano (basis própria — não comparar com bases YE).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25607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 · TAM — e se 500 milhões de usuários pagarem?
FONTES / NOTAS: Comparações: ARR combinado dos labs ~$100B (SemiAnalysis 07-08) · MSFT AI ARR $37B (F3T26) · BofA "AI 2030" AI-DC TAM ~$1.7T CY30 (infra, não software — a comparação é de escala). Ilustrativo, não estimativa 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41180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6b · A mesma pergunta, pela receita dos índices
FONTES / NOTAS: Receita agregada derivada de dados de índice Bloomberg em 31-jul-2026 (método declarado acima; STOXX convertido pelo mkt cap em USD). O what-if é receita na camada de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18083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6c · $50–200/mês é plausível? Já é a banda observada
FONTES / NOTAS: FundaAI "LLM 26H1 Pt 2" (24-jun): "average spend $211/user/month, 8.4x OpenAI’s $25". Claude Max e M365 Copilot: preços públicos. Meta: &amp;gt;60T tokens Claude/30d ≅ ≥$50k/ano/funcionário A PREÇO DE TABELA (SemiAnalysis 06-30). 99º percentil: ~$100k/ano/funcionário (dados Ramp via SemiAnalysis Ep.020, 15-jul).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31122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 · O custo da tese — capex sobre receita
FONTES / NOTAS: Frame de referência: top-4 ~$410B 2025A → ~$700–725B 2026E → ~$1.1T 2027E (JPM "AI Capex 2.0", 06-16); reescrita agregada 26–28: $1.3T → $3.4T em 12 meses (BofA 07-26). Financiamento: $1.3T de IG no 1S (GS); backstop NVDA $77.5B→$175.3B. A linha a respeitar: "the era of 20%+ surprises to hyperscaler capex expectations is likely over" (Rothschild/Redburn, 07-30).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2728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7b · A revisão de capex — 2026, 2027 e 2028
FONTES / NOTAS: Linhas: Bloomberg BEst semanal, CY27E/CY28E, soma MSFT+GOOG+META+AMZN (MSFT calendarizado de trimestres fiscais; _data/hyperscaler_revisions_2027_2028.json, asof 2026-07-31). Guides 2026: calls das empresas (GOOG 02-04/04-29/07-22 · AMZN 02-05/07-30 · META 04-29/07-29 · MSFT 04-29/07-29). Framing de referência: JPM "AI Capex 2.0" top-4 $410B 25A → $700–725B 26E → ~$1.1T 27E (06-16).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2828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7c · Capex por empresa — house vs casas
FONTES / NOTAS: Modelo house Capstone (Bottom-up Capex v3; comparativo = aba Comp, 14-jul-26) via dashboards Oficiais — pipeline MarketData (Fernanda Neves), atualizado 03-ago-2026. Números HOUSE, não consenso; "bogeys" = buyside.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4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7d · Os gigawatts por trás do capex — house vs casas
FONTES / NOTAS: Modelo house Capstone (Bottom-up Capex v3; comparativo = aba Comp, 14-jul-26) via dashboards Oficiais — pipeline MarketData (Fernanda Neves), atualizado 03-ago-2026. Números HOUSE, não consenso; "bogeys" = buyside. Capex/GW implícito (house, CY26→28): GOOG $28→35bn · AMZN ~$30bn · META $31→34bn (vs benchmark BofA $45–47bn!) · MSFT $36–40bn · NVDA-chips $36–42bn vs MS $39–49bn. GW = basis YE instalado, ótica designers — não misturar com GW online médio (slide 5f).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96395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7e · A indústria inteira, na visão house
FONTES / NOTAS: Modelo house Capstone (Bottom-up Capex v3; comparativo = aba Comp, 14-jul-26) via dashboards Oficiais — pipeline MarketData (Fernanda Neves), atualizado 03-ago-2026. Números HOUSE, não consenso; "bogeys" = buyside. "Capex total AI" = todas as camadas da indústria (não só top-4 — cf. JPM $410bn top-4 2025 vs $396bn house indústria: bases distintas). GW EOP: 11→24→51→98→162.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42438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7f · Capex bottom-up — a conta por camadas
FONTES / NOTAS: Fonte: Bottom_Up_Capex_v3.xlsx (modelo house) via dashboard ai-capex-bottom-up, 27-jul-26. Escopo = indústria TODA (não só top-4): CY26E $902bn vs JPM top-4 $700–725bn — bases distintas; o cross-check certo é o guardrail acima (hyperscalers bottom-up $655bn CY26E vs modelo top-down $722bn = 0.91x; CY27 1.05x; CY28 1.00x). GW aqui = ADICIONADOS no ano (fluxo) — não misturar com GW instalados YE (slide 7d) nem GW online médio (slide 5f). Vintage 27-jul (o comparativo 7c/7d usa a aba Comp de 14-jul; top-4 YE28 125.8 vs 129.9 GW entre vintages).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5667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 · Re-rating? Forward P/E contra a régua de 5 anos — mega-caps
FONTES / NOTAS: Bloomberg BEST_PE_RATIO via Capstone wrapper; BEST_FPERIOD_OVERRIDE=1BF/2BF (blended forward), weekly · início 2021-08, asof 2026-08-03. Média e ±1</a:t>
            </a:r>
            <a:r>
              <a:rPr lang="el-GR"/>
              <a:t>σ </a:t>
            </a:r>
            <a:r>
              <a:rPr lang="pt-BR"/>
              <a:t>calculadas sobre a série 1Y fwd dos 5 anos. Basis idêntica ao comp dashboard (1BF/2BF).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03577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8b · Forward P/E contra a régua de 5 anos — AI hardware
FONTES / NOTAS: Bloomberg BEST_PE_RATIO via Capstone wrapper; BEST_FPERIOD_OVERRIDE=1BF/2BF (blended forward), weekly · início 2021-08, asof 2026-08-03. Nota: 1Y/2Y fwd = BEst blended-forward; o P/E "current-FY" do terminal lê diferente (ex.: GOOG ~18.5x CY26 inflado pelo ganho Anthropic do 2T).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65748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8c · O que expandiu foi a receita de 2027/28
FONTES / NOTAS: BBG BEst, overrides 1CY/2CY/3CY, vintage 30-jan vs 31-jul. NVDA CY28 marcado PARA BAIXO (27%→23%) — conservadorismo de número grande, não fraqueza. A lição do tape (KLAC 07-28): beat-and-raise virou caso-base; onde estimativa lidera preço, a surpresa precisa continuar chegando (Barclays).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0773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9 · TSMC &amp; ASML — a camada mais funda diz ciclo até 2028–30
FONTES / NOTAS: Dois raises em seis meses, nos dois. TSMC: +$100B no Arizona (total $265B, "four or more fabs") + 13 fabs em Taiwan; capex dos próximos 3 anos "EVEN MORE significantly higher". ASML: capacidade Low-NA +30% em 2027 (~85un) e +30% em investigação para 2028 (~110un — aritmética de broker confirmada pelo IR em 07-20); 2027 "close to being fully covered with orders" (IR depois suavizou: "not completely booked… holes in the list"). Contraponto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81324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9b · Nas palavras deles — e o outro lado
FONTES / NOTAS: Transcripts verbatim (hedge do Wei mantido de propósito — deixa a citação mais crível, não menos).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57775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Veredito — e o que resolve os debates
FONTES / NOTAS: Construído da wiki de research Capstone (transcripts primários, notas de sell-side, expert calls, modelos house), 31-jul-2026. Regra de atribuição em todo dado: broker/analista ou fonte primária + data; consenso = Bloomberg BEst; ARR = run-rate estimado salvo declaração da empresa; bases de GW e backlog mantidas separadas. Não é recomendação de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D48BF-8B53-49C2-82BB-F1F80670D1A8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670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7301C-6BC8-280E-763C-A3A8B42AB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E75A4E-3ACA-8CA0-EB33-3997B788A2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DFDBD-53AB-7BB9-4A83-56DF1BD81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4A915-3C7D-82FB-2C7F-78A9BB0D1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A35E1-CA03-1785-9C4E-91C133BF1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3630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FFB3-2607-348A-B2CA-275C39F34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A9650-4BF2-0A95-4305-74AB4E9A4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32023-BA87-8302-A484-4116C8ED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1213D-53CB-0D98-ED2E-685577457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B5345-943A-B18A-0EF2-F9D55D80E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3398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77F45-538A-7AAC-F806-EC9F3732D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45833A-1D74-741E-78EF-AED52856E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B45BE-4EF8-4B50-EBB0-2EDE9A7BB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A8FAD5-A69D-D46E-E8EA-59461FDD5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78F3E-3EBF-BF7B-33CE-EEE4DCA56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1961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51AA3-5BD4-0C17-4742-74F010D2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C0AFB-E759-E540-D3F8-9C8700DE24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4D2C7C-11F2-70DF-DB30-9272F0BC4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E1FF0-7918-20A6-5412-355F5697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567A9-6306-4772-3F6B-486C07D7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553D4-059D-B8A6-C4A8-62F750692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8252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D17B5-DD5C-8B55-9800-7BEE122CC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E7998C-BD21-CED5-CCDB-FD1F13862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51566B-C2BA-16E8-9D26-53B13F068F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EE4BA8-8C6D-2350-C447-582E9F60D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FEAA45-DDA3-35B7-C2A3-5621B1F144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A26690-777A-3F52-3994-F67EBE76F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B6FB94-A65E-B629-C11E-51E19DB84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ED5-41AD-D44F-FDE3-8D8CB27E1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9291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D1CC1-13EC-EEE2-570F-729DEB49C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A6140-C243-9F00-DD10-35A0A6C4F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05A0-2810-9F87-3911-5F48B13FF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FD2A-8BF4-0B56-4D96-9785C8F0C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7000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827F90-D848-0372-D5C7-DD327D378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829828-2914-3085-E5D3-4C40554D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A6D1-A533-D39A-4D54-ABE6158D2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365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B791C-0B70-2CC7-07D7-6A627024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861C4-1A95-70B9-D6EE-4623E6D9E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44FE99-086D-7D30-3EBD-FD8B00DDFF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61DE12-C10E-6D15-F153-2FC18F2B9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859FA-C23B-CB4C-D02E-15DFEBE82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B0271A-3D7C-A50A-FC63-7933B4AB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378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1355D-A08A-7930-2E85-7C41230FA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228A12-CF63-CDB0-78D8-F1B7C21A0C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0BDC93-96BB-7295-D60A-A1F4948B0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4FC1B2-E607-6AE8-2D6F-D2A43D4B2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5FCC51-3E49-D799-6727-D06FE01E1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508F0-F8F8-7EA0-736B-A1A68D692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213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6D8B7-1655-9489-ADDF-0633040ED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37706-847D-E246-A960-F8ACFFE952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BA18A-DDC0-F3DD-D3F2-41A6A5C5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B7AD3-D5E1-5DEE-077B-C11E3312F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31F7C-75DE-414A-01D5-8394C8965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293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C76037-D9B8-A007-CBB1-F83CCCA6E6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362DD-38B6-1F0B-686F-6D2349FC5B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4A16C-D81F-18C3-4F6A-8A7FE5B16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9CDB8-95F9-06D6-C6DE-98040888C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03C361-8F88-DD27-B661-0062B4639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7676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CF48F1-96BD-ECB7-0A77-9DF34D7C2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5C763C-52D9-E278-67D9-4A42F7464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9099C-29F6-BA21-A671-EF725DC2A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27C7A-93DD-4D0B-AA21-A78C8872D23C}" type="datetimeFigureOut">
              <a:rPr lang="pt-BR" smtClean="0"/>
              <a:t>03/08/2026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66599-B8BB-6437-FDFE-23CBF7558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C3DF3-D809-6C48-DA1C-3DB84F681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F17539-D88B-47CD-AA53-EAB74DF5DAE6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1293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E5D119-806A-74CE-D0A1-6C09227A18B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619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09739F-ACEC-F896-7904-7F4674A940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9965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C45E75-E21F-0C66-BF90-FF345A663D8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6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77C802-56EF-853C-7741-8C3B5712B4F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790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41E056-D2D6-74A9-2B75-B743001F726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225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28013A-DF86-EC14-5984-9EC29D5E62F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66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0E1CC3-5E40-7F5E-B1FC-8EA95A3036E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1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7FB967-5BD3-9EFA-D10C-B3D583FDD6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76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B83CDC-939F-309F-0551-2E3FE487FB7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45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A03D39-E0EC-02FD-F999-537B8BDFC47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208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887C0E-6C8A-0417-4583-6A4AC1645B7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63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239944-8D42-755E-E18E-ED44E3C80F6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608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9B4E58-AF60-2CC7-F5AE-D1A82C1F7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559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D1FFE4-A5E2-C670-F239-FFD06AB095B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468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E48D97-128F-31AC-3565-5123AC9691F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35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8D5F08-8B16-7300-4191-7034048C73F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582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DA66DD-F94D-8DF0-3EC5-453F4A2F0F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12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3BFB63-7A0E-5BF8-5B76-80244BB7607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982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120E69-0BE4-08B6-FD9C-99EE628959E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2999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CECD3C-797A-90EB-2EF5-86B31DC2970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7629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2D13F-B305-FC30-FE90-7FDF6FFAC13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755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ED72C8-3094-D532-1F34-3BD90E9EF3C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982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5510F2-66B5-344D-A435-1B17999251B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807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8C4608-E880-88E0-063B-42870F718A7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8225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F6649-B74F-302E-03C8-B758A76E60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473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154A30-E114-EB70-9501-658653CB1CA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6505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236B08-C726-2250-A18F-25A7EB600E0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900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4D6347-7784-8941-E771-30052C7FA8C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79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B834C6-03C3-9106-1EC4-01C40E040E0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4865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04B51C5-FAF4-F4EF-572B-C77F3D52B30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328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41379A-3E52-C133-02DB-10F2BB9DB11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9598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1633EA-002D-24C8-D52B-520C56D113E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95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46022F-CA1F-6825-8604-BAD1D315CC7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5878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181D27-9127-198D-9B11-DD932D8579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13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3112</Words>
  <Application>Microsoft Office PowerPoint</Application>
  <PresentationFormat>Custom</PresentationFormat>
  <Paragraphs>68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Monteiro</dc:creator>
  <cp:lastModifiedBy>Felipe Monteiro</cp:lastModifiedBy>
  <cp:revision>1</cp:revision>
  <dcterms:created xsi:type="dcterms:W3CDTF">2026-08-03T17:41:33Z</dcterms:created>
  <dcterms:modified xsi:type="dcterms:W3CDTF">2026-08-03T17:41:33Z</dcterms:modified>
</cp:coreProperties>
</file>